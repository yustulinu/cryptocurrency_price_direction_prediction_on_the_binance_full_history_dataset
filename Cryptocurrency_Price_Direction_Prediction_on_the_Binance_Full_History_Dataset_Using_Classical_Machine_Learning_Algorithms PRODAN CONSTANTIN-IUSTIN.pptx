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0"/>
            <a:ext cx="594360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Cryptocurrency Price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Direction Prediction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74320" y="2011680"/>
            <a:ext cx="5943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 the Binance Full History Dataset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Using Classical Machine Learning Algorithms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2907792"/>
            <a:ext cx="5029200" cy="45720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999232"/>
            <a:ext cx="54864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PRODAN CONSTANTIN-IUSTIN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Dept. of Computers and Information Technology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University of Craiova, Romania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Metodologia Cercet</a:t>
            </a:r>
            <a:r>
              <a:rPr lang="ro-RO" sz="1300" i="1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ă</a:t>
            </a:r>
            <a:r>
              <a:rPr lang="en-US" sz="1300" i="1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rii </a:t>
            </a:r>
            <a:r>
              <a:rPr lang="ro-RO" altLang="en-US" sz="1300" i="1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Ș</a:t>
            </a:r>
            <a:r>
              <a:rPr lang="en-US" sz="1300" i="1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tiin</a:t>
            </a:r>
            <a:r>
              <a:rPr lang="ro-RO" altLang="en-US" sz="1300" i="1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ț</a:t>
            </a:r>
            <a:r>
              <a:rPr lang="en-US" sz="1300" i="1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ifice </a:t>
            </a:r>
            <a:r>
              <a:rPr lang="ro-RO" altLang="en-US" sz="1300" i="1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î</a:t>
            </a:r>
            <a:r>
              <a:rPr lang="en-US" sz="1300" i="1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 Informatic</a:t>
            </a:r>
            <a:r>
              <a:rPr lang="ro-RO" altLang="en-US" sz="1300" i="1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ă</a:t>
            </a:r>
            <a:r>
              <a:rPr lang="en-US" sz="1300" i="1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75120" y="502920"/>
            <a:ext cx="2194560" cy="987552"/>
          </a:xfrm>
          <a:prstGeom prst="roundRect">
            <a:avLst>
              <a:gd name="adj" fmla="val 9259"/>
            </a:avLst>
          </a:prstGeom>
          <a:solidFill>
            <a:srgbClr val="028090">
              <a:alpha val="85000"/>
            </a:srgbClr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594360"/>
            <a:ext cx="21945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 GB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675120" y="1124712"/>
            <a:ext cx="2194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675120" y="1600200"/>
            <a:ext cx="2194560" cy="987552"/>
          </a:xfrm>
          <a:prstGeom prst="roundRect">
            <a:avLst>
              <a:gd name="adj" fmla="val 9259"/>
            </a:avLst>
          </a:prstGeom>
          <a:solidFill>
            <a:srgbClr val="028090">
              <a:alpha val="85000"/>
            </a:srgbClr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1691640"/>
            <a:ext cx="21945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2.75M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675120" y="2221992"/>
            <a:ext cx="2194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1-min candles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75120" y="2697480"/>
            <a:ext cx="2194560" cy="987552"/>
          </a:xfrm>
          <a:prstGeom prst="roundRect">
            <a:avLst>
              <a:gd name="adj" fmla="val 9259"/>
            </a:avLst>
          </a:prstGeom>
          <a:solidFill>
            <a:srgbClr val="028090">
              <a:alpha val="85000"/>
            </a:srgbClr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788920"/>
            <a:ext cx="21945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yrs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675120" y="3319272"/>
            <a:ext cx="2194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2017–2022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0" y="3794760"/>
            <a:ext cx="2194560" cy="987552"/>
          </a:xfrm>
          <a:prstGeom prst="roundRect">
            <a:avLst>
              <a:gd name="adj" fmla="val 9259"/>
            </a:avLst>
          </a:prstGeom>
          <a:solidFill>
            <a:srgbClr val="028090">
              <a:alpha val="85000"/>
            </a:srgbClr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3886200"/>
            <a:ext cx="21945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AUC 0.547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675120" y="4416552"/>
            <a:ext cx="21945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 result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Presentation Outline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713232"/>
            <a:ext cx="8503920" cy="45720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0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0"/>
            <a:ext cx="3474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" y="1024128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Formulation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58952" y="1298448"/>
            <a:ext cx="3749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are we predicting? Target variable definition &amp; numerical example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2057400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057400"/>
            <a:ext cx="3474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58952" y="1984248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&amp; Train-Test Split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58952" y="2258568"/>
            <a:ext cx="3749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 GB Binance data — strict chronological 80/20 split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3017520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3017520"/>
            <a:ext cx="3474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58952" y="2944368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Engineering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58952" y="3218688"/>
            <a:ext cx="3749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 technical indicators derived from OHLCV (SMA, EMA, MACD, RSI, BB…)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977640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977640"/>
            <a:ext cx="3474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58952" y="3904488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 Label Distribution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58952" y="4178808"/>
            <a:ext cx="3749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Near-balanced classes — no trivial baseline exists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1097280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097280"/>
            <a:ext cx="3474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93792" y="1024128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Feature Distributions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93792" y="1298448"/>
            <a:ext cx="3749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 vs. test distributional alignment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2057400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057400"/>
            <a:ext cx="3474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93792" y="1984248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Models &amp; Experimental Setup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193792" y="2258568"/>
            <a:ext cx="3749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Logistic Regression · Random Forest · Gradient Boosting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3017520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3017520"/>
            <a:ext cx="3474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93792" y="2944368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193792" y="3218688"/>
            <a:ext cx="3749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ROC curves · Confusion Matrix · Feature Importance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3977640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3977640"/>
            <a:ext cx="3474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93792" y="3904488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Comparison &amp; Conclusions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193792" y="4178808"/>
            <a:ext cx="3749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State-of-the-art context and future directions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Formulation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713232"/>
            <a:ext cx="8503920" cy="45720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804672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Asset: BTC/USDT  ·  Horizon: 1 hour  ·  Task: Binary classification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85342"/>
            <a:ext cx="4206240" cy="1389888"/>
          </a:xfrm>
          <a:prstGeom prst="rect">
            <a:avLst/>
          </a:prstGeom>
          <a:solidFill>
            <a:srgbClr val="162050"/>
          </a:solidFill>
          <a:ln w="15240">
            <a:solidFill>
              <a:srgbClr val="F793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33856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93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 Variable  yₜ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39319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yₜ = 1   if close_{t+1} &gt; close_t (price ↑)</a:t>
            </a:r>
            <a:endParaRPr lang="en-US" sz="1200" b="1" dirty="0">
              <a:solidFill>
                <a:srgbClr val="FFFFFF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yₜ = 0   otherwise  </a:t>
            </a:r>
            <a:r>
              <a:rPr lang="en-US" sz="12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(price ↓ or flat)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       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587752"/>
            <a:ext cx="4206240" cy="1389888"/>
          </a:xfrm>
          <a:prstGeom prst="rect">
            <a:avLst/>
          </a:prstGeom>
          <a:solidFill>
            <a:srgbClr val="162050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642616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Numerical Example: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953512"/>
            <a:ext cx="393192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close₁₀₀ = $29,500  →  close₁₀₁ = $29,750  ⟹  y₁₀₀ = 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F4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close₁₀₁ = $29,750  →  close₁₀₂ = $29,600  ⟹  y₁₀₁ = 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78992"/>
            <a:ext cx="4023360" cy="2898648"/>
          </a:xfrm>
          <a:prstGeom prst="rect">
            <a:avLst/>
          </a:prstGeom>
          <a:solidFill>
            <a:srgbClr val="162050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143000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Machine Learning Task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58191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793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035040" y="1581912"/>
            <a:ext cx="2606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xₜ ∈ ℝ¹⁸ — 18 technical indicators at hour 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208483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793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035040" y="2084832"/>
            <a:ext cx="2606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f(xₜ) ∈ {0, 1} — price direction at hour t+1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258775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793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leakage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035040" y="2587752"/>
            <a:ext cx="2606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data at close of bar t is used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309067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793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Balanced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035040" y="3090672"/>
            <a:ext cx="2606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51.3% Class 1 (train)  |  49.5% (test)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359359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793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Metrics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035040" y="3593592"/>
            <a:ext cx="2606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ROC-AUC + Accuracy on held-out test set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4041648"/>
            <a:ext cx="8503920" cy="804672"/>
          </a:xfrm>
          <a:prstGeom prst="rect">
            <a:avLst/>
          </a:prstGeom>
          <a:solidFill>
            <a:srgbClr val="0D1B4B"/>
          </a:solidFill>
          <a:ln w="15240">
            <a:solidFill>
              <a:srgbClr val="F793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096512"/>
            <a:ext cx="8229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793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"Can 18 OHLCV-derived technical indicators predict, at above-chance rate,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F793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whether the next hourly BTC/USDT closing price will be higher or lower?"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&amp; Train-Test Split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713232"/>
            <a:ext cx="8503920" cy="45720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0"/>
            <a:ext cx="39319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Summary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43584"/>
            <a:ext cx="3931920" cy="365760"/>
          </a:xfrm>
          <a:prstGeom prst="rect">
            <a:avLst/>
          </a:prstGeom>
          <a:solidFill>
            <a:srgbClr val="162050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07592"/>
            <a:ext cx="15544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Trading pair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993392" y="1307592"/>
            <a:ext cx="21488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BTC/USDT (Binance)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636776"/>
            <a:ext cx="3931920" cy="365760"/>
          </a:xfrm>
          <a:prstGeom prst="rect">
            <a:avLst/>
          </a:prstGeom>
          <a:solidFill>
            <a:srgbClr val="16254A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700784"/>
            <a:ext cx="15544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Raw granularity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993392" y="1700784"/>
            <a:ext cx="21488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minute (OHLCV)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2029968"/>
            <a:ext cx="3931920" cy="365760"/>
          </a:xfrm>
          <a:prstGeom prst="rect">
            <a:avLst/>
          </a:prstGeom>
          <a:solidFill>
            <a:srgbClr val="162050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093976"/>
            <a:ext cx="15544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After resample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993392" y="2093976"/>
            <a:ext cx="21488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hour → 45,732 obs.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423160"/>
            <a:ext cx="3931920" cy="365760"/>
          </a:xfrm>
          <a:prstGeom prst="rect">
            <a:avLst/>
          </a:prstGeom>
          <a:solidFill>
            <a:srgbClr val="16254A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487168"/>
            <a:ext cx="15544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Date range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993392" y="2487168"/>
            <a:ext cx="21488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Aug 17, 2017 — Nov 16, 2022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2816352"/>
            <a:ext cx="3931920" cy="365760"/>
          </a:xfrm>
          <a:prstGeom prst="rect">
            <a:avLst/>
          </a:prstGeom>
          <a:solidFill>
            <a:srgbClr val="162050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880360"/>
            <a:ext cx="15544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Missing values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993392" y="2880360"/>
            <a:ext cx="21488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  (complete dataset)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3209544"/>
            <a:ext cx="3931920" cy="365760"/>
          </a:xfrm>
          <a:prstGeom prst="rect">
            <a:avLst/>
          </a:prstGeom>
          <a:solidFill>
            <a:srgbClr val="16254A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273552"/>
            <a:ext cx="15544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Price range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993392" y="3273552"/>
            <a:ext cx="21488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$2,817  —  $69,000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3602736"/>
            <a:ext cx="3931920" cy="365760"/>
          </a:xfrm>
          <a:prstGeom prst="rect">
            <a:avLst/>
          </a:prstGeom>
          <a:solidFill>
            <a:srgbClr val="162050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666744"/>
            <a:ext cx="15544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Coeff. of variation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993392" y="3666744"/>
            <a:ext cx="21488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86.76%  (extreme volatility)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480560" y="914400"/>
            <a:ext cx="4343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Chronological 80 / 20 Split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480560" y="1261872"/>
            <a:ext cx="4343400" cy="621792"/>
          </a:xfrm>
          <a:prstGeom prst="rect">
            <a:avLst/>
          </a:prstGeom>
          <a:solidFill>
            <a:srgbClr val="1A3A5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80560" y="1261872"/>
            <a:ext cx="3474720" cy="621792"/>
          </a:xfrm>
          <a:prstGeom prst="rect">
            <a:avLst/>
          </a:prstGeom>
          <a:solidFill>
            <a:srgbClr val="028090">
              <a:alpha val="92000"/>
            </a:srgbClr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1316736"/>
            <a:ext cx="3291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 80%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0" y="1581912"/>
            <a:ext cx="32918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36,585 obs. | Aug 2017 — Mar 2022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955280" y="1261872"/>
            <a:ext cx="868680" cy="621792"/>
          </a:xfrm>
          <a:prstGeom prst="rect">
            <a:avLst/>
          </a:prstGeom>
          <a:solidFill>
            <a:srgbClr val="F7931A">
              <a:alpha val="88000"/>
            </a:srgbClr>
          </a:solidFill>
          <a:ln w="25400">
            <a:solidFill>
              <a:srgbClr val="F793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55280" y="1307592"/>
            <a:ext cx="86868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20%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80560" y="1993392"/>
            <a:ext cx="2057400" cy="1874520"/>
          </a:xfrm>
          <a:prstGeom prst="rect">
            <a:avLst/>
          </a:prstGeom>
          <a:solidFill>
            <a:srgbClr val="162050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0" y="2048256"/>
            <a:ext cx="1874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Set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0" y="2359152"/>
            <a:ext cx="1874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36,585 obs.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572000" y="2743200"/>
            <a:ext cx="1874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Aug 2017 – Mar 2022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0" y="2980944"/>
            <a:ext cx="1874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 1: 51.3%  |  Class 0: 48.7%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0" y="3218688"/>
            <a:ext cx="187452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future data in training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720840" y="1993392"/>
            <a:ext cx="2103120" cy="1874520"/>
          </a:xfrm>
          <a:prstGeom prst="rect">
            <a:avLst/>
          </a:prstGeom>
          <a:solidFill>
            <a:srgbClr val="162050"/>
          </a:solidFill>
          <a:ln w="15240">
            <a:solidFill>
              <a:srgbClr val="F7931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12280" y="2048256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93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Set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812280" y="2359152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9,147 obs.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812280" y="2743200"/>
            <a:ext cx="1920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Apr 2022 – Nov 2022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812280" y="2980944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 1: 49.5%  |  Class 0: 50.5%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812280" y="3218688"/>
            <a:ext cx="192024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Declining market — harder regime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20040" y="4114800"/>
            <a:ext cx="8503920" cy="749808"/>
          </a:xfrm>
          <a:prstGeom prst="rect">
            <a:avLst/>
          </a:prstGeom>
          <a:solidFill>
            <a:srgbClr val="0D1B4B"/>
          </a:solidFill>
          <a:ln w="15240">
            <a:solidFill>
              <a:srgbClr val="F7931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793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principle: NO SHUFFLING applied. Scaler is fitted on training data only.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F793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prevents any information from the test period from contaminating model training.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Engineering — 18 Technical Indicators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713232"/>
            <a:ext cx="8503920" cy="45720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87425"/>
            <a:ext cx="2743200" cy="1801495"/>
          </a:xfrm>
          <a:prstGeom prst="rect">
            <a:avLst/>
          </a:prstGeom>
          <a:solidFill>
            <a:srgbClr val="162050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9768" y="1069848"/>
            <a:ext cx="252374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Trend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(Moving Avg.)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29768" y="1591056"/>
            <a:ext cx="54864" cy="164592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581912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SMA_7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9768" y="1837944"/>
            <a:ext cx="54864" cy="164592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" y="1828800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SMA_25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" y="2084832"/>
            <a:ext cx="54864" cy="164592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7784" y="2075688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SMA_99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768" y="2331720"/>
            <a:ext cx="54864" cy="164592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" y="2322576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EMA_12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9768" y="2578608"/>
            <a:ext cx="54864" cy="164592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" y="2569464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EMA_26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46120" y="987425"/>
            <a:ext cx="2743200" cy="1801495"/>
          </a:xfrm>
          <a:prstGeom prst="rect">
            <a:avLst/>
          </a:prstGeom>
          <a:solidFill>
            <a:srgbClr val="162050"/>
          </a:solidFill>
          <a:ln w="15240">
            <a:solidFill>
              <a:srgbClr val="0369A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55848" y="1069848"/>
            <a:ext cx="252374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Momentum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355848" y="1591056"/>
            <a:ext cx="54864" cy="164592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83864" y="1581912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MACD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55848" y="1837944"/>
            <a:ext cx="54864" cy="164592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83864" y="1828800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MACD_signal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55848" y="2084832"/>
            <a:ext cx="54864" cy="164592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83864" y="2075688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MACD_hist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55848" y="2331720"/>
            <a:ext cx="54864" cy="164592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83864" y="2322576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RSI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72200" y="987425"/>
            <a:ext cx="2743200" cy="1801495"/>
          </a:xfrm>
          <a:prstGeom prst="rect">
            <a:avLst/>
          </a:prstGeom>
          <a:solidFill>
            <a:srgbClr val="162050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81928" y="1069848"/>
            <a:ext cx="252374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Volatility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81928" y="1591056"/>
            <a:ext cx="54864" cy="164592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9944" y="1581912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BB_width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81928" y="1837944"/>
            <a:ext cx="54864" cy="164592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9944" y="1828800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volatility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2826385"/>
            <a:ext cx="2743200" cy="1480185"/>
          </a:xfrm>
          <a:prstGeom prst="rect">
            <a:avLst/>
          </a:prstGeom>
          <a:solidFill>
            <a:srgbClr val="162050"/>
          </a:solidFill>
          <a:ln w="15240">
            <a:solidFill>
              <a:srgbClr val="065F4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9768" y="2807208"/>
            <a:ext cx="252374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Returns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29768" y="3328416"/>
            <a:ext cx="54864" cy="164592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7784" y="3319272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return_1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29768" y="3575304"/>
            <a:ext cx="54864" cy="164592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7784" y="3566160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return_24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29768" y="3822192"/>
            <a:ext cx="54864" cy="164592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7784" y="3813048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return_168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46120" y="2827020"/>
            <a:ext cx="2743200" cy="1470660"/>
          </a:xfrm>
          <a:prstGeom prst="rect">
            <a:avLst/>
          </a:prstGeom>
          <a:solidFill>
            <a:srgbClr val="162050"/>
          </a:solidFill>
          <a:ln w="15240">
            <a:solidFill>
              <a:srgbClr val="92400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55848" y="2807208"/>
            <a:ext cx="252374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Candlestick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Shape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3355848" y="3328416"/>
            <a:ext cx="54864" cy="164592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83864" y="3319272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body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355848" y="3575304"/>
            <a:ext cx="54864" cy="164592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83864" y="3566160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upper_wick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355848" y="3822192"/>
            <a:ext cx="54864" cy="164592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83864" y="3813048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lower_wick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172200" y="2827020"/>
            <a:ext cx="2743200" cy="1470660"/>
          </a:xfrm>
          <a:prstGeom prst="rect">
            <a:avLst/>
          </a:prstGeom>
          <a:solidFill>
            <a:srgbClr val="162050"/>
          </a:solidFill>
          <a:ln w="15240">
            <a:solidFill>
              <a:srgbClr val="1E40A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81928" y="2807208"/>
            <a:ext cx="2523744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Volume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281928" y="3328416"/>
            <a:ext cx="54864" cy="164592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9944" y="3319272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volume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20040" y="4434840"/>
            <a:ext cx="8503920" cy="438912"/>
          </a:xfrm>
          <a:prstGeom prst="rect">
            <a:avLst/>
          </a:prstGeom>
          <a:solidFill>
            <a:srgbClr val="0D2060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4480560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features use only data available at bar-close time t — no future information enters any computation.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 Label Distribution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6390" y="713232"/>
            <a:ext cx="8503920" cy="45720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804672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Near-balanced classes — no trivial majority-class baseline</a:t>
            </a:r>
            <a:endParaRPr lang="en-US" sz="1100" dirty="0"/>
          </a:p>
        </p:txBody>
      </p:sp>
      <p:pic>
        <p:nvPicPr>
          <p:cNvPr id="5" name="Image 0" descr="/mnt/user-data/outputs/fig_label_distribu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0295"/>
            <a:ext cx="7680960" cy="273177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3941064"/>
            <a:ext cx="54864" cy="274320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3877056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Both sets near-balanced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542032" y="3877056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51.3% Class 1 in training vs 49.5% in test — no strong directional bias in either period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65760" y="4343400"/>
            <a:ext cx="54864" cy="274320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4279392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oversampling applied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542032" y="4279392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 weights are equal; accuracy is a valid metric alongside ROC-AUC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65760" y="4745736"/>
            <a:ext cx="54864" cy="274320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4681728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Slight shift train→test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542032" y="4681728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50.5% Class 0 in test (Apr–Nov 2022) reflects the declining bear-market phase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Feature Distributions — Train vs. Test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713232"/>
            <a:ext cx="8503920" cy="45720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804672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Minimal distributional shift confirms temporal split is representative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760720" y="914400"/>
            <a:ext cx="31089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Panel Descriptions: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760720" y="1298448"/>
            <a:ext cx="3108960" cy="822960"/>
          </a:xfrm>
          <a:prstGeom prst="rect">
            <a:avLst/>
          </a:prstGeom>
          <a:solidFill>
            <a:srgbClr val="162050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70448" y="1362456"/>
            <a:ext cx="288950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93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return_1 (top-left)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870448" y="1645920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Fat tails (leptokurtic): most returns near zero, rare large moves. Gaussian assumption would underfit.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760720" y="2231136"/>
            <a:ext cx="3108960" cy="822960"/>
          </a:xfrm>
          <a:prstGeom prst="rect">
            <a:avLst/>
          </a:prstGeom>
          <a:solidFill>
            <a:srgbClr val="162050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70448" y="2295144"/>
            <a:ext cx="288950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93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BB_width (top-right)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870448" y="2578608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Right-skewed: alternates between low-volatility calm periods and high-volatility spikes.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760720" y="3163824"/>
            <a:ext cx="3108960" cy="822960"/>
          </a:xfrm>
          <a:prstGeom prst="rect">
            <a:avLst/>
          </a:prstGeom>
          <a:solidFill>
            <a:srgbClr val="162050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70448" y="3227832"/>
            <a:ext cx="288950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93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RSI (bottom-left)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870448" y="3511296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Bell-shaped near 50: neither overbought nor oversold conditions dominate the sample.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760720" y="4096512"/>
            <a:ext cx="3108960" cy="822960"/>
          </a:xfrm>
          <a:prstGeom prst="rect">
            <a:avLst/>
          </a:prstGeom>
          <a:solidFill>
            <a:srgbClr val="162050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70448" y="4160520"/>
            <a:ext cx="288950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93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log(volume) (bot-right)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870448" y="4443984"/>
            <a:ext cx="2889504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Log-normal; train and test nearly identical — trading activity stable across both periods.</a:t>
            </a:r>
            <a:endParaRPr lang="en-US" sz="95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62990"/>
            <a:ext cx="5295900" cy="38563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Models &amp; Experimental Setup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713232"/>
            <a:ext cx="8503920" cy="45720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2743200" cy="3337560"/>
          </a:xfrm>
          <a:prstGeom prst="rect">
            <a:avLst/>
          </a:prstGeom>
          <a:solidFill>
            <a:srgbClr val="162050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71016" y="1051560"/>
            <a:ext cx="841248" cy="841248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71016" y="1051560"/>
            <a:ext cx="841248" cy="8412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11480" y="1984248"/>
            <a:ext cx="256032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377440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max_iter = 1000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724912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 = 1.0  (L2 regularization)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3072384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solver = lbfgs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9768" y="3520440"/>
            <a:ext cx="2523744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Linear baseline. Fits sigmoid to 18 standardized features. Interpretable via coefficients.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46120" y="960120"/>
            <a:ext cx="2743200" cy="3337560"/>
          </a:xfrm>
          <a:prstGeom prst="rect">
            <a:avLst/>
          </a:prstGeom>
          <a:solidFill>
            <a:srgbClr val="162050"/>
          </a:solidFill>
          <a:ln w="15240">
            <a:solidFill>
              <a:srgbClr val="0369A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97096" y="1051560"/>
            <a:ext cx="841248" cy="841248"/>
          </a:xfrm>
          <a:prstGeom prst="ellipse">
            <a:avLst/>
          </a:prstGeom>
          <a:solidFill>
            <a:srgbClr val="0369A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97096" y="1051560"/>
            <a:ext cx="841248" cy="8412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RF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37560" y="1984248"/>
            <a:ext cx="256032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2377440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n_estimators = 100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37560" y="2724912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max_features = sqrt(18) ≈ 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37560" y="3072384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random_state = 42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55848" y="3520440"/>
            <a:ext cx="2523744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Bagging ensemble of 100 decision trees. Provides feature importance via mean impurity decrease.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72200" y="960120"/>
            <a:ext cx="2743200" cy="3337560"/>
          </a:xfrm>
          <a:prstGeom prst="rect">
            <a:avLst/>
          </a:prstGeom>
          <a:solidFill>
            <a:srgbClr val="162050"/>
          </a:solidFill>
          <a:ln w="15240">
            <a:solidFill>
              <a:srgbClr val="F7931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23176" y="1051560"/>
            <a:ext cx="841248" cy="841248"/>
          </a:xfrm>
          <a:prstGeom prst="ellipse">
            <a:avLst/>
          </a:prstGeom>
          <a:solidFill>
            <a:srgbClr val="F7931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23176" y="1051560"/>
            <a:ext cx="841248" cy="8412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GB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263640" y="1984248"/>
            <a:ext cx="256032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Gradient Boosting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63640" y="2377440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n_estimators = 100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63640" y="2724912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learning_rate = 0.1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63640" y="3072384"/>
            <a:ext cx="2560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max_depth = 3  |  random_state = 42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81928" y="3520440"/>
            <a:ext cx="2523744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Sequential boosting on log-loss. Best at capturing weak additive signals in high-noise data.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4416552"/>
            <a:ext cx="8503920" cy="457200"/>
          </a:xfrm>
          <a:prstGeom prst="rect">
            <a:avLst/>
          </a:prstGeom>
          <a:solidFill>
            <a:srgbClr val="0D2060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462272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models: scikit-learn  ·  trained on 36,585 obs.  ·  evaluated on 9,147 obs.  ·  no hyperparameter tuning on test data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Results: ROC Curves · Confusion Matrix · Feature Importance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713232"/>
            <a:ext cx="8503920" cy="45720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pic>
        <p:nvPicPr>
          <p:cNvPr id="4" name="Image 0" descr="/mnt/user-data/outputs/fig_model_result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896112"/>
            <a:ext cx="5669280" cy="3977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35040" y="914400"/>
            <a:ext cx="28346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Performance: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035040" y="1261872"/>
            <a:ext cx="2834640" cy="347472"/>
          </a:xfrm>
          <a:prstGeom prst="rect">
            <a:avLst/>
          </a:prstGeom>
          <a:solidFill>
            <a:srgbClr val="028090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26480" y="1325880"/>
            <a:ext cx="26517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Model           Acc    AUC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035040" y="1609344"/>
            <a:ext cx="2834640" cy="411480"/>
          </a:xfrm>
          <a:prstGeom prst="rect">
            <a:avLst/>
          </a:prstGeom>
          <a:solidFill>
            <a:srgbClr val="162050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26480" y="1655064"/>
            <a:ext cx="2651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Logistic Reg.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126480" y="1837944"/>
            <a:ext cx="265176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Acc=0.5337   AUC=0.5461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035040" y="2066544"/>
            <a:ext cx="2834640" cy="411480"/>
          </a:xfrm>
          <a:prstGeom prst="rect">
            <a:avLst/>
          </a:prstGeom>
          <a:solidFill>
            <a:srgbClr val="162050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26480" y="2112264"/>
            <a:ext cx="2651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 Forest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126480" y="2295144"/>
            <a:ext cx="265176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Acc=0.5133   AUC=0.5222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035040" y="2523744"/>
            <a:ext cx="2834640" cy="411480"/>
          </a:xfrm>
          <a:prstGeom prst="rect">
            <a:avLst/>
          </a:prstGeom>
          <a:solidFill>
            <a:srgbClr val="1A3A5C"/>
          </a:solidFill>
          <a:ln w="15240">
            <a:solidFill>
              <a:srgbClr val="02C39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26480" y="2569464"/>
            <a:ext cx="2651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793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Grad. Boosting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126480" y="2752344"/>
            <a:ext cx="265176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2C39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Acc=0.5345   AUC=0.5469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35040" y="2980944"/>
            <a:ext cx="2834640" cy="411480"/>
          </a:xfrm>
          <a:prstGeom prst="rect">
            <a:avLst/>
          </a:prstGeom>
          <a:solidFill>
            <a:srgbClr val="162050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26480" y="3026664"/>
            <a:ext cx="26517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Baseline (rnd)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126480" y="3209544"/>
            <a:ext cx="265176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Acc=0.5000   AUC=0.5000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035040" y="3639312"/>
            <a:ext cx="2834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Insights: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035040" y="3986784"/>
            <a:ext cx="54864" cy="201168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63056" y="3950208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GB ≈ LR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114032" y="3950208"/>
            <a:ext cx="171907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relationships are largely linear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035040" y="4270248"/>
            <a:ext cx="54864" cy="201168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163056" y="4233672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RF lags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7114032" y="4233672"/>
            <a:ext cx="171907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Bagging less effective on high-noise data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035040" y="4553712"/>
            <a:ext cx="54864" cy="201168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163056" y="4517136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CM asymmetry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114032" y="4517136"/>
            <a:ext cx="171907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biased toward Class 1 (up moves)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6035040" y="4837176"/>
            <a:ext cx="54864" cy="201168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63056" y="4800600"/>
            <a:ext cx="9144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 features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7114032" y="4800600"/>
            <a:ext cx="171907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volume · lower_wick · upper_wick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09728"/>
            <a:ext cx="85039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Comparison with State-of-the-Art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713232"/>
            <a:ext cx="8503920" cy="45720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32688"/>
            <a:ext cx="1965960" cy="365760"/>
          </a:xfrm>
          <a:prstGeom prst="rect">
            <a:avLst/>
          </a:prstGeom>
          <a:solidFill>
            <a:srgbClr val="028090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1005840"/>
            <a:ext cx="18379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0" y="932688"/>
            <a:ext cx="1691640" cy="365760"/>
          </a:xfrm>
          <a:prstGeom prst="rect">
            <a:avLst/>
          </a:prstGeom>
          <a:solidFill>
            <a:srgbClr val="028090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50008" y="1005840"/>
            <a:ext cx="156362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977640" y="932688"/>
            <a:ext cx="1508760" cy="365760"/>
          </a:xfrm>
          <a:prstGeom prst="rect">
            <a:avLst/>
          </a:prstGeom>
          <a:solidFill>
            <a:srgbClr val="028090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41648" y="1005840"/>
            <a:ext cx="1380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 Result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0" y="932688"/>
            <a:ext cx="1325880" cy="365760"/>
          </a:xfrm>
          <a:prstGeom prst="rect">
            <a:avLst/>
          </a:prstGeom>
          <a:solidFill>
            <a:srgbClr val="028090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50408" y="1005840"/>
            <a:ext cx="119786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12280" y="932688"/>
            <a:ext cx="2331720" cy="365760"/>
          </a:xfrm>
          <a:prstGeom prst="rect">
            <a:avLst/>
          </a:prstGeom>
          <a:solidFill>
            <a:srgbClr val="028090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76288" y="1005840"/>
            <a:ext cx="220370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1298448"/>
            <a:ext cx="1965960" cy="429768"/>
          </a:xfrm>
          <a:prstGeom prst="rect">
            <a:avLst/>
          </a:prstGeom>
          <a:solidFill>
            <a:srgbClr val="1A3A5C"/>
          </a:solidFill>
          <a:ln w="1524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1399032"/>
            <a:ext cx="183794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93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work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0" y="1298448"/>
            <a:ext cx="1691640" cy="429768"/>
          </a:xfrm>
          <a:prstGeom prst="rect">
            <a:avLst/>
          </a:prstGeom>
          <a:solidFill>
            <a:srgbClr val="1A3A5C"/>
          </a:solidFill>
          <a:ln w="1524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399032"/>
            <a:ext cx="156362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93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Gradient Boosting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977640" y="1298448"/>
            <a:ext cx="1508760" cy="429768"/>
          </a:xfrm>
          <a:prstGeom prst="rect">
            <a:avLst/>
          </a:prstGeom>
          <a:solidFill>
            <a:srgbClr val="1A3A5C"/>
          </a:solidFill>
          <a:ln w="1524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41648" y="1399032"/>
            <a:ext cx="138074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93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AUC = 0.547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0" y="1298448"/>
            <a:ext cx="1325880" cy="429768"/>
          </a:xfrm>
          <a:prstGeom prst="rect">
            <a:avLst/>
          </a:prstGeom>
          <a:solidFill>
            <a:srgbClr val="1A3A5C"/>
          </a:solidFill>
          <a:ln w="1524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50408" y="1399032"/>
            <a:ext cx="119786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93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Classification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12280" y="1298448"/>
            <a:ext cx="2331720" cy="429768"/>
          </a:xfrm>
          <a:prstGeom prst="rect">
            <a:avLst/>
          </a:prstGeom>
          <a:solidFill>
            <a:srgbClr val="1A3A5C"/>
          </a:solidFill>
          <a:ln w="1524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76288" y="1399032"/>
            <a:ext cx="220370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93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Binance Full History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1773936"/>
            <a:ext cx="1965960" cy="429768"/>
          </a:xfrm>
          <a:prstGeom prst="rect">
            <a:avLst/>
          </a:prstGeom>
          <a:solidFill>
            <a:srgbClr val="162050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1874520"/>
            <a:ext cx="183794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Jaquart et al. 2021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286000" y="1773936"/>
            <a:ext cx="1691640" cy="429768"/>
          </a:xfrm>
          <a:prstGeom prst="rect">
            <a:avLst/>
          </a:prstGeom>
          <a:solidFill>
            <a:srgbClr val="162050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50008" y="1874520"/>
            <a:ext cx="156362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XGBoost + all feats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977640" y="1773936"/>
            <a:ext cx="1508760" cy="429768"/>
          </a:xfrm>
          <a:prstGeom prst="rect">
            <a:avLst/>
          </a:prstGeom>
          <a:solidFill>
            <a:srgbClr val="162050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41648" y="1874520"/>
            <a:ext cx="138074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 = 55.6%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0" y="1773936"/>
            <a:ext cx="1325880" cy="429768"/>
          </a:xfrm>
          <a:prstGeom prst="rect">
            <a:avLst/>
          </a:prstGeom>
          <a:solidFill>
            <a:srgbClr val="162050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50408" y="1874520"/>
            <a:ext cx="119786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Classification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812280" y="1773936"/>
            <a:ext cx="2331720" cy="429768"/>
          </a:xfrm>
          <a:prstGeom prst="rect">
            <a:avLst/>
          </a:prstGeom>
          <a:solidFill>
            <a:srgbClr val="162050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76288" y="1874520"/>
            <a:ext cx="220370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Multi-source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2249424"/>
            <a:ext cx="1965960" cy="429768"/>
          </a:xfrm>
          <a:prstGeom prst="rect">
            <a:avLst/>
          </a:prstGeom>
          <a:solidFill>
            <a:srgbClr val="162050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2350008"/>
            <a:ext cx="183794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Livieris et al. 2023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286000" y="2249424"/>
            <a:ext cx="1691640" cy="429768"/>
          </a:xfrm>
          <a:prstGeom prst="rect">
            <a:avLst/>
          </a:prstGeom>
          <a:solidFill>
            <a:srgbClr val="162050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50008" y="2350008"/>
            <a:ext cx="156362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Bi-LSTM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977640" y="2249424"/>
            <a:ext cx="1508760" cy="429768"/>
          </a:xfrm>
          <a:prstGeom prst="rect">
            <a:avLst/>
          </a:prstGeom>
          <a:solidFill>
            <a:srgbClr val="162050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41648" y="2350008"/>
            <a:ext cx="138074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RMSE (lowest)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486400" y="2249424"/>
            <a:ext cx="1325880" cy="429768"/>
          </a:xfrm>
          <a:prstGeom prst="rect">
            <a:avLst/>
          </a:prstGeom>
          <a:solidFill>
            <a:srgbClr val="162050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50408" y="2350008"/>
            <a:ext cx="119786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Regression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812280" y="2249424"/>
            <a:ext cx="2331720" cy="429768"/>
          </a:xfrm>
          <a:prstGeom prst="rect">
            <a:avLst/>
          </a:prstGeom>
          <a:solidFill>
            <a:srgbClr val="162050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76288" y="2350008"/>
            <a:ext cx="220370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BTC / ETH / LTC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20040" y="2724912"/>
            <a:ext cx="1965960" cy="429768"/>
          </a:xfrm>
          <a:prstGeom prst="rect">
            <a:avLst/>
          </a:prstGeom>
          <a:solidFill>
            <a:srgbClr val="162050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4048" y="2825496"/>
            <a:ext cx="183794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Chen 2023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286000" y="2724912"/>
            <a:ext cx="1691640" cy="429768"/>
          </a:xfrm>
          <a:prstGeom prst="rect">
            <a:avLst/>
          </a:prstGeom>
          <a:solidFill>
            <a:srgbClr val="162050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350008" y="2825496"/>
            <a:ext cx="156362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LSTM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977640" y="2724912"/>
            <a:ext cx="1508760" cy="429768"/>
          </a:xfrm>
          <a:prstGeom prst="rect">
            <a:avLst/>
          </a:prstGeom>
          <a:solidFill>
            <a:srgbClr val="162050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041648" y="2825496"/>
            <a:ext cx="138074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RMSE = 0.0054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486400" y="2724912"/>
            <a:ext cx="1325880" cy="429768"/>
          </a:xfrm>
          <a:prstGeom prst="rect">
            <a:avLst/>
          </a:prstGeom>
          <a:solidFill>
            <a:srgbClr val="162050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50408" y="2825496"/>
            <a:ext cx="119786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Regression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812280" y="2724912"/>
            <a:ext cx="2331720" cy="429768"/>
          </a:xfrm>
          <a:prstGeom prst="rect">
            <a:avLst/>
          </a:prstGeom>
          <a:solidFill>
            <a:srgbClr val="162050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76288" y="2825496"/>
            <a:ext cx="220370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BTC/USDT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20040" y="3200400"/>
            <a:ext cx="1965960" cy="429768"/>
          </a:xfrm>
          <a:prstGeom prst="rect">
            <a:avLst/>
          </a:prstGeom>
          <a:solidFill>
            <a:srgbClr val="162050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84048" y="3300984"/>
            <a:ext cx="183794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Manikumar et al. 2023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286000" y="3200400"/>
            <a:ext cx="1691640" cy="429768"/>
          </a:xfrm>
          <a:prstGeom prst="rect">
            <a:avLst/>
          </a:prstGeom>
          <a:solidFill>
            <a:srgbClr val="162050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350008" y="3300984"/>
            <a:ext cx="156362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RF + CatBoost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977640" y="3200400"/>
            <a:ext cx="1508760" cy="429768"/>
          </a:xfrm>
          <a:prstGeom prst="rect">
            <a:avLst/>
          </a:prstGeom>
          <a:solidFill>
            <a:srgbClr val="162050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041648" y="3300984"/>
            <a:ext cx="138074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RMSE = 365 USD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5486400" y="3200400"/>
            <a:ext cx="1325880" cy="429768"/>
          </a:xfrm>
          <a:prstGeom prst="rect">
            <a:avLst/>
          </a:prstGeom>
          <a:solidFill>
            <a:srgbClr val="162050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50408" y="3300984"/>
            <a:ext cx="119786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Regression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812280" y="3200400"/>
            <a:ext cx="2331720" cy="429768"/>
          </a:xfrm>
          <a:prstGeom prst="rect">
            <a:avLst/>
          </a:prstGeom>
          <a:solidFill>
            <a:srgbClr val="162050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876288" y="3300984"/>
            <a:ext cx="220370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Binance 2017–2022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320040" y="3675888"/>
            <a:ext cx="1965960" cy="429768"/>
          </a:xfrm>
          <a:prstGeom prst="rect">
            <a:avLst/>
          </a:prstGeom>
          <a:solidFill>
            <a:srgbClr val="162050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84048" y="3776472"/>
            <a:ext cx="183794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Turganaliev 2024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2286000" y="3675888"/>
            <a:ext cx="1691640" cy="429768"/>
          </a:xfrm>
          <a:prstGeom prst="rect">
            <a:avLst/>
          </a:prstGeom>
          <a:solidFill>
            <a:srgbClr val="162050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350008" y="3776472"/>
            <a:ext cx="156362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LSTM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3977640" y="3675888"/>
            <a:ext cx="1508760" cy="429768"/>
          </a:xfrm>
          <a:prstGeom prst="rect">
            <a:avLst/>
          </a:prstGeom>
          <a:solidFill>
            <a:srgbClr val="162050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041648" y="3776472"/>
            <a:ext cx="138074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MAPE (low)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5486400" y="3675888"/>
            <a:ext cx="1325880" cy="429768"/>
          </a:xfrm>
          <a:prstGeom prst="rect">
            <a:avLst/>
          </a:prstGeom>
          <a:solidFill>
            <a:srgbClr val="162050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550408" y="3776472"/>
            <a:ext cx="119786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Regression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6812280" y="3675888"/>
            <a:ext cx="2331720" cy="429768"/>
          </a:xfrm>
          <a:prstGeom prst="rect">
            <a:avLst/>
          </a:prstGeom>
          <a:solidFill>
            <a:srgbClr val="162050"/>
          </a:solidFill>
          <a:ln w="15240">
            <a:solidFill>
              <a:srgbClr val="02809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876288" y="3776472"/>
            <a:ext cx="220370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Binance multi-TF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320040" y="4178808"/>
            <a:ext cx="8503920" cy="667512"/>
          </a:xfrm>
          <a:prstGeom prst="rect">
            <a:avLst/>
          </a:prstGeom>
          <a:solidFill>
            <a:srgbClr val="0D1B4B"/>
          </a:solidFill>
          <a:ln w="15240">
            <a:solidFill>
              <a:srgbClr val="F7931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57200" y="4224528"/>
            <a:ext cx="83210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793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Gap vs. Jaquart et al. explained by features, NOT models: their OHLCV-only ablation reaches ~52-53% — consistent with our 53.4%.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F793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remaining gap comes from sentiment + on-chain + macro features. Exogenous data enrichment is the key lever.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09728"/>
            <a:ext cx="85953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Conclusions &amp; Future 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04088"/>
            <a:ext cx="8595360" cy="45720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41248"/>
            <a:ext cx="50292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 Findings: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61872"/>
            <a:ext cx="3474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" y="1188720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Gradient Boosting is best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" y="1444752"/>
            <a:ext cx="45720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AUC = 0.5469 &gt; Logistic Regression (0.5461) &gt; Random Forest (0.5222) &gt; random baseline (0.5000)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892808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892808"/>
            <a:ext cx="3474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9808" y="1819656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Weak but real signal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9808" y="2075688"/>
            <a:ext cx="45720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models beat chance — consistent with semi-strong market efficiency (EMH)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523744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523744"/>
            <a:ext cx="3474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9808" y="2450592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Largely linear relationships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9808" y="2706624"/>
            <a:ext cx="45720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GB ≈ LR gap confirms OHLCV features relate linearly to the direction target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154680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154680"/>
            <a:ext cx="3474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9808" y="3081528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Volume + wick features dominate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9808" y="3337560"/>
            <a:ext cx="45720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Intra-bar price dynamics carry more directional info than moving averages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785616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785616"/>
            <a:ext cx="3474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9808" y="3712464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Exogenous data is the key lever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9808" y="3968496"/>
            <a:ext cx="45720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OHLCV-only ceiling ~53%; enriched models (sentiment, on-chain) reach ~55-56%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0" y="841248"/>
            <a:ext cx="3383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93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Directions: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0" y="1316736"/>
            <a:ext cx="54864" cy="329184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32704" y="1316736"/>
            <a:ext cx="32004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Integrate Twitter/Reddit sentiment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0" y="1828800"/>
            <a:ext cx="54864" cy="329184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32704" y="1828800"/>
            <a:ext cx="32004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on-chain blockchain metrics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0" y="2340864"/>
            <a:ext cx="54864" cy="329184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32704" y="2340864"/>
            <a:ext cx="32004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 LSTM / Transformer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86400" y="2852928"/>
            <a:ext cx="54864" cy="329184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32704" y="2852928"/>
            <a:ext cx="32004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Walk-forward validation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486400" y="3364992"/>
            <a:ext cx="54864" cy="329184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32704" y="3364992"/>
            <a:ext cx="32004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SHAP explainability analysis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486400" y="3877056"/>
            <a:ext cx="54864" cy="329184"/>
          </a:xfrm>
          <a:prstGeom prst="rect">
            <a:avLst/>
          </a:prstGeom>
          <a:solidFill>
            <a:srgbClr val="F7931A"/>
          </a:solidFill>
          <a:ln w="12700">
            <a:solidFill>
              <a:srgbClr val="F7931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32704" y="3877056"/>
            <a:ext cx="32004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4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Extend to all 500+ trading pairs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590288"/>
            <a:ext cx="82296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 for your attention!   |   Questions?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6361</Words>
  <Application>WPS Presentation</Application>
  <PresentationFormat>On-screen Show (16:9)</PresentationFormat>
  <Paragraphs>479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SimSun</vt:lpstr>
      <vt:lpstr>Wingdings</vt:lpstr>
      <vt:lpstr>Calibri</vt:lpstr>
      <vt:lpstr>Calibri</vt:lpstr>
      <vt:lpstr>Calibri</vt:lpstr>
      <vt:lpstr>Consolas</vt:lpstr>
      <vt:lpstr>Consolas</vt:lpstr>
      <vt:lpstr>Consolas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Iustin Prodan</cp:lastModifiedBy>
  <cp:revision>5</cp:revision>
  <dcterms:created xsi:type="dcterms:W3CDTF">2026-04-25T21:48:00Z</dcterms:created>
  <dcterms:modified xsi:type="dcterms:W3CDTF">2026-04-25T22:01:31Z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BB0BA66313B747369E7DBD6135771731_12</vt:lpwstr>
  </property>
</Properties>
</file>